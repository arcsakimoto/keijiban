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3474720"/>
            <a:ext cx="8534095" cy="457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914400"/>
            <a:ext cx="8534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BBD5F0"/>
                </a:solidFill>
              </a:defRPr>
            </a:pPr>
            <a:r>
              <a:t>ARCFEELGROUP株式会社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4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新規M&amp;A 事業計画書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BBD5F0"/>
                </a:solidFill>
              </a:defRPr>
            </a:pPr>
            <a:r>
              <a:t>中小建設企業の統合による成長戦略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34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99999"/>
                </a:solidFill>
              </a:defRPr>
            </a:pPr>
            <a:r>
              <a:t>2026年1月20日  |  経営計画会議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534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6C00"/>
                </a:solidFill>
              </a:defRPr>
            </a:pPr>
            <a: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0876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371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2024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05740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202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M&amp;A戦略の背景と目的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6888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0604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4688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ターゲット市場分析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0175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154679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0175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サービス概要・シナジー効果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5661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70332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5661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プロジェクト体制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148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25196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1148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スケジュール・マイルストーン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66344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80060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4663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予算計画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1208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534924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52120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損益計画（P&amp;L）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7607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2400" b="1">
                <a:solidFill>
                  <a:srgbClr val="E86C00"/>
                </a:solidFill>
              </a:defRPr>
            </a:pPr>
            <a:r>
              <a:t>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897880"/>
            <a:ext cx="4572" cy="228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57607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リスクと対応策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194560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20116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投資総額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1.3億円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39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買収対価＋PJ費用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280160"/>
            <a:ext cx="2194560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371600"/>
            <a:ext cx="20116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期間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4ヶ月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920239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2月〜5月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280160"/>
            <a:ext cx="2194560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371600"/>
            <a:ext cx="20116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投資回収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554480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2.8年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1920239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ペイバック期間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280160"/>
            <a:ext cx="2194560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371600"/>
            <a:ext cx="20116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EBITDA（3年後）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1554480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1.1億円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920239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マージン15.7%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1280160"/>
            <a:ext cx="2194560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371600"/>
            <a:ext cx="20116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ROE（3年後）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554480"/>
            <a:ext cx="201167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23.8%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1920239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自己資本利益率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68880"/>
            <a:ext cx="11277295" cy="457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中小建設企業のM&amp;Aにより、ARCFEELGROUPの事業基盤を強化。</a:t>
            </a:r>
            <a:br/>
            <a:r>
              <a:t>業務効率化シナジーと規模の経済により、3年で営業利益率13.6%を目指す。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39"/>
            <a:ext cx="356616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947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戦略の柱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2976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・建設業界の事業承継ニーズに対応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709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・グループの施工能力・エリア拡大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120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・共同購買によるコスト削減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5321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・管理部門統合による効率化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3749039"/>
            <a:ext cx="356616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37947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実行計画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2976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・2月：要件定義・資金調達協議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709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・3月：候補企業面談・LOI提出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120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・4月：DD実施・契約合意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5321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・5月：クロージング・お披露目会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749039"/>
            <a:ext cx="356616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7947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成功のKPI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2976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・売上高：5.8億→7.0億（3年）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709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・営業利益率：4.8%→13.6%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512064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・EBITDA：4,100万→1.1億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5321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・投資回収期間：2.8年以内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M&amp;A戦略の背景と目的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Strategic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外部環境・市場背景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建設業界は2025年問題で人手不足が深刻化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中小建設企業の約6割が後継者不在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M&amp;A市場は過去5年で2倍に拡大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国土強靭化計画により公共工事は堅調に推移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  業務効率化・DX推進への投資意欲が高い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557784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M&amp;Aの目的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1280160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3852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事業拡大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920240"/>
            <a:ext cx="3657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施工能力・営業エリアの拡大により</a:t>
            </a:r>
            <a:br/>
            <a:r>
              <a:t>売上規模を1.2倍に拡大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17520"/>
            <a:ext cx="1280160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03580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人材確保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017520"/>
            <a:ext cx="3657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技術者の確保と若手育成基盤の</a:t>
            </a:r>
            <a:br/>
            <a:r>
              <a:t>強化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114800"/>
            <a:ext cx="1280160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33087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コスト削減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114800"/>
            <a:ext cx="3657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共同購買・管理統合により</a:t>
            </a:r>
            <a:br/>
            <a:r>
              <a:t>原価率を5pt改善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212079"/>
            <a:ext cx="1280160" cy="36576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230367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事業承継対応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212079"/>
            <a:ext cx="36576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社会的意義のある事業承継</a:t>
            </a:r>
            <a:br/>
            <a:r>
              <a:t>ニーズへの対応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ターゲット市場分析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Target Market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669280" cy="502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478A"/>
                </a:solidFill>
              </a:defRPr>
            </a:pPr>
            <a:r>
              <a:t>ターゲット企業プロファイル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645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74519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売上規模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874519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1億〜10億円の建設企業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1645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231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地域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4231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首都圏・関東エリア中心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26080"/>
            <a:ext cx="1645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7180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業種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9718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建築・土木・設備工事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1645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20439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課題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520439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後継者不在 / 人材不足 / 業務効率化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1645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6908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企業数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0690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該当企業 約3,000社（推定）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スクリーニング基準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営業利益率 5%以上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2120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従業員数 10〜100名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直近3年売上安定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5778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許認可・免許の有効性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478A"/>
                </a:solidFill>
              </a:defRPr>
            </a:pPr>
            <a:r>
              <a:t>候補企業選定フロー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9659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ロングリスト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196596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4231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業界データベース・FA情報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2834640"/>
            <a:ext cx="45720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8803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ショートリスト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288036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337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スクリーニング基準適用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3749039"/>
            <a:ext cx="420624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79475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初回面談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794759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251959"/>
            <a:ext cx="4206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経営者面談・事業理解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4663440"/>
            <a:ext cx="384048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470915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DD対象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709159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2〜3社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166359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詳細分析・条件交渉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5577840"/>
            <a:ext cx="3474720" cy="5029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562355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最終候補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5623559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608075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99999"/>
                </a:solidFill>
              </a:defRPr>
            </a:pPr>
            <a:r>
              <a:t>契約合意・クロージング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サービス概要・シナジー効果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Synergy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ARCFEELGROUPの既存事業基盤 × M&amp;A先企業 = グループシナジーの最大化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6616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売上シナジー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・相互の顧客紹介による受注拡大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・共同での大型案件入札参加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・エリア拡大による新規顧客開拓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・大林組等との取引拡大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301752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478A"/>
                </a:solidFill>
              </a:defRPr>
            </a:pPr>
            <a:r>
              <a:t>期待効果: +30億円/3年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566160" cy="4572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874519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コストシナジー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・建設資材の共同購買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803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・管理部門（経理・総務）の統合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91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・IT・システムの統合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703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・重機・車両の共有化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2519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478A"/>
                </a:solidFill>
              </a:defRPr>
            </a:pPr>
            <a:r>
              <a:t>期待効果: ▲原価5pt改善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56616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74519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人材シナジー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・技術者の相互配置・育成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8036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・採用力の強化（グループ採用）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291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・ナレッジ共有・技術伝承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7033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・経営人材の育成パイプライン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2519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A478A"/>
                </a:solidFill>
              </a:defRPr>
            </a:pPr>
            <a:r>
              <a:t>期待効果: 技術者+20名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既存グループ企業の強み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2743200" cy="4114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413248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ARCFEEL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52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リノベーション・リニューアル</a:t>
            </a:r>
            <a:br/>
            <a:r>
              <a:t>設計施工・EC・人材派遣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5394960"/>
            <a:ext cx="2743200" cy="4114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5413248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コスモスエンジニアリング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5852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設備工事総合請負</a:t>
            </a:r>
            <a:br/>
            <a:r>
              <a:t>人材派遣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394960"/>
            <a:ext cx="2743200" cy="41148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5413248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カネケン京葉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852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公共土木工事</a:t>
            </a:r>
            <a:br/>
            <a:r>
              <a:t>店舗デザイン・リノベ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5394960"/>
            <a:ext cx="2743200" cy="4114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5413248"/>
            <a:ext cx="2651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新規M&amp;A先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5852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（建設業中小企業）</a:t>
            </a:r>
            <a:br/>
            <a:r>
              <a:t>施工力・顧客基盤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プロジェクト体制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Organization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5790895" cy="6400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98448"/>
            <a:ext cx="55778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ステアリングコミッティ（最終意思決定）</a:t>
            </a:r>
            <a:br/>
            <a:r>
              <a:t>﨑元 代表取締役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194560"/>
            <a:ext cx="3962095" cy="54864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221992"/>
            <a:ext cx="3749039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PMO（プロジェクト管理）：﨑元（兼務）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6576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35808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ファイナンス・法務チーム</a:t>
            </a:r>
            <a:br/>
            <a:r>
              <a:t>梅木（リーダー）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・資金調達（商工中金）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・DD管理・実施支援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・契約書作成・交渉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・バリュエーション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999999"/>
                </a:solidFill>
              </a:defRPr>
            </a:pPr>
            <a:r>
              <a:t>【外部パートナー】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  FAアドバイザー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7784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  弁護士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59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  税理士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79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  会計士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017520"/>
            <a:ext cx="365760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035808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事業戦略チーム</a:t>
            </a:r>
            <a:br/>
            <a:r>
              <a:t>﨑元（リーダー）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365760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・M&amp;A戦略策定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97763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・候補企業選定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29768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・経営者面談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461772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・Go/No-Go判断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017520"/>
            <a:ext cx="365760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035808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マーケティング・PMIチーム</a:t>
            </a:r>
            <a:br/>
            <a:r>
              <a:t>山本（リーダー）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5760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・市場調査・分析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77639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・事業DD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29768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・お披露目会企画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61772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・PMI計画策定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02920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999999"/>
                </a:solidFill>
              </a:defRPr>
            </a:pPr>
            <a:r>
              <a:t>【外部パートナー】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3035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  イベント会社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57784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  PR会社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スケジュール・マイルストーン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914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2月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298448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Phase1</a:t>
            </a:r>
            <a:br/>
            <a:r>
              <a:t>要件定義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4173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86C00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・M&amp;A戦略策定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・商工中金 融資協議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・DD項目策定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・FA選定・契約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・ロングリスト作成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2468880" cy="411480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07408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C00000"/>
                </a:solidFill>
              </a:defRPr>
            </a:pPr>
            <a:r>
              <a:t>◆ Gate1: 要件定義完了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1298448"/>
            <a:ext cx="914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3月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298448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Phase2</a:t>
            </a:r>
            <a:br/>
            <a:r>
              <a:t>初回面談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4173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86C00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・ショートリスト作成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・NDA締結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17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・経営者面談（Top3）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3832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・LOI提出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749039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・基本条件交渉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4389120"/>
            <a:ext cx="2468880" cy="411480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407408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C00000"/>
                </a:solidFill>
              </a:defRPr>
            </a:pPr>
            <a:r>
              <a:t>◆ Gate2: 候補企業決定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298448"/>
            <a:ext cx="914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4月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1298448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Phase3</a:t>
            </a:r>
            <a:br/>
            <a:r>
              <a:t>DD・契約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14173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E86C00"/>
                </a:solidFill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・財務/法務/税務DD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・事業DD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017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・バリュエーション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3832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・Go/No-Go判断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49039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・MOU締結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389120"/>
            <a:ext cx="2468880" cy="411480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407408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C00000"/>
                </a:solidFill>
              </a:defRPr>
            </a:pPr>
            <a:r>
              <a:t>◆ Gate3: 契約合意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1280160"/>
            <a:ext cx="2651760" cy="73152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1298448"/>
            <a:ext cx="914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5月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1298448"/>
            <a:ext cx="1645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Phase4</a:t>
            </a:r>
            <a:br/>
            <a:r>
              <a:t>実行・PMI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28600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・最終契約(DA)締結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65176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・株式譲渡・資金決済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01752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・PMI計画策定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3832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・従業員説明会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749039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・お披露目会実施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4389120"/>
            <a:ext cx="2468880" cy="411480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4407408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C00000"/>
                </a:solidFill>
              </a:defRPr>
            </a:pPr>
            <a:r>
              <a:t>◆ Gate4: PJ完了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120640"/>
            <a:ext cx="11277295" cy="1371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45920" y="5029200"/>
            <a:ext cx="27432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5029200"/>
            <a:ext cx="27432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8080" y="5029200"/>
            <a:ext cx="27432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24160" y="5029200"/>
            <a:ext cx="274320" cy="3200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予算計画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Budget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478A"/>
                </a:solidFill>
              </a:defRPr>
            </a:pPr>
            <a:r>
              <a:t>プロジェクト費用：総額 1,365万円（買収対価除く）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914400"/>
                <a:gridCol w="914400"/>
                <a:gridCol w="1097280"/>
                <a:gridCol w="27432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費目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2月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3月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4月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5月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アドバイザー費用（FA/法務/税務）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DD費用（財務/法務/税務/事業）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契約・法務費用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マーケティング費用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社内人件費按分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予備費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555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1,365</a:t>
                      </a:r>
                    </a:p>
                  </a:txBody>
                  <a:tcPr>
                    <a:solidFill>
                      <a:srgbClr val="1A478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資金調達計画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194560"/>
            <a:ext cx="3474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1284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商工中金（長期）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79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金利1.5% / 7年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240279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1A478A"/>
                </a:solidFill>
              </a:defRPr>
            </a:pPr>
            <a:r>
              <a:t>8,000万円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926080"/>
            <a:ext cx="3474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44368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商工中金（短期）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金利1.2% / 2年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97180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1A478A"/>
                </a:solidFill>
              </a:defRPr>
            </a:pPr>
            <a:r>
              <a:t>2,000万円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657600"/>
            <a:ext cx="3474720" cy="5943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675887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自己資金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31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99999"/>
                </a:solidFill>
              </a:defRPr>
            </a:pPr>
            <a:r>
              <a:t>内部留保より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703320"/>
            <a:ext cx="1097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1">
                <a:solidFill>
                  <a:srgbClr val="1A478A"/>
                </a:solidFill>
              </a:defRPr>
            </a:pPr>
            <a:r>
              <a:t>3,000万円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480560"/>
            <a:ext cx="3474720" cy="4572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498848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調達合計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4498848"/>
            <a:ext cx="1280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600" b="1">
                <a:solidFill>
                  <a:srgbClr val="FFFFFF"/>
                </a:solidFill>
              </a:defRPr>
            </a:pPr>
            <a:r>
              <a:t>1.3億円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2120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478A"/>
                </a:solidFill>
              </a:defRPr>
            </a:pPr>
            <a:r>
              <a:t>使途内訳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5778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買収対価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557784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1">
                <a:solidFill>
                  <a:srgbClr val="333333"/>
                </a:solidFill>
              </a:defRPr>
            </a:pPr>
            <a:r>
              <a:t>1.0億円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852159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PJ費用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585215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1">
                <a:solidFill>
                  <a:srgbClr val="333333"/>
                </a:solidFill>
              </a:defRPr>
            </a:pPr>
            <a:r>
              <a:t>1,365万円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126479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PMI費用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126479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1">
                <a:solidFill>
                  <a:srgbClr val="333333"/>
                </a:solidFill>
              </a:defRPr>
            </a:pPr>
            <a:r>
              <a:t>700万円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4008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予備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1">
                <a:solidFill>
                  <a:srgbClr val="333333"/>
                </a:solidFill>
              </a:defRPr>
            </a:pPr>
            <a:r>
              <a:t>935万円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損益計画（P&amp;L）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Profit &amp; Loss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M&amp;A後3年間の損益シミュレーション（単位：万円）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737360"/>
          <a:ext cx="6858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18872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科目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FY2026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（統合初年度）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FY2027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（2年目）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FY2028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（3年目）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売上高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58,000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63,500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70,000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9.8%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売上原価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43,700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45,700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48,200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5.0%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売上総利益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14,300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17,800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21,800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23.4%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（売上総利益率）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販管費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12,300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3.4%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営業利益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2,800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9,500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84.2%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（営業利益率）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  <a:r>
                        <a:t>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営業外損益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C00000"/>
                          </a:solidFill>
                        </a:defRPr>
                      </a:pPr>
                      <a:r>
                        <a:t>▲790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C00000"/>
                          </a:solidFill>
                        </a:defRPr>
                      </a:pPr>
                      <a:r>
                        <a:t>▲735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C00000"/>
                          </a:solidFill>
                        </a:defRPr>
                      </a:pPr>
                      <a:r>
                        <a:t>▲680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経常利益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2,010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5,265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8,820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109.5%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0"/>
                      </a:pPr>
                      <a:r>
                        <a:t>法人税等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C00000"/>
                          </a:solidFill>
                        </a:defRPr>
                      </a:pPr>
                      <a:r>
                        <a:t>▲543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C00000"/>
                          </a:solidFill>
                        </a:defRPr>
                      </a:pPr>
                      <a:r>
                        <a:t>▲1,580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C00000"/>
                          </a:solidFill>
                        </a:defRPr>
                      </a:pPr>
                      <a:r>
                        <a:t>▲2,646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当期純利益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1,267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3,686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6,174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120.8%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4,100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7,400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11,000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63.8%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6459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A478A"/>
                </a:solidFill>
              </a:defRPr>
            </a:pPr>
            <a:r>
              <a:t>主要KPI推移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286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売上高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606040"/>
            <a:ext cx="548640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86207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FY26: 5.8億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606040"/>
            <a:ext cx="640080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86207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FY27: 6.4億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2606040"/>
            <a:ext cx="731520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86207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FY28: 7.0億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38328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営業利益率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703320"/>
            <a:ext cx="219456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95935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FY26: 4.8%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703320"/>
            <a:ext cx="429768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95935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FY27: 9.4%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3703320"/>
            <a:ext cx="621792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395935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FY28: 13.6%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80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EBITDA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800600"/>
            <a:ext cx="338328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505663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FY26: 4,100万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4800600"/>
            <a:ext cx="612648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505663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FY27: 7,400万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4800600"/>
            <a:ext cx="914400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505663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FY28: 1.1億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5778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当期純利益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5897879"/>
            <a:ext cx="182880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615391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FY26: 1,267万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5897879"/>
            <a:ext cx="548640" cy="2286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615391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FY27: 3,686万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20" y="5897879"/>
            <a:ext cx="914400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0" y="6153912"/>
            <a:ext cx="1097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99999"/>
                </a:solidFill>
              </a:defRPr>
            </a:pPr>
            <a:r>
              <a:t>FY28: 6,174万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リスクと対応策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BBD5F0"/>
                </a:solidFill>
              </a:defRPr>
            </a:pPr>
            <a: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BBD5F0"/>
                </a:solidFill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75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ARCFEELGROUP株式会社  |  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16736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財務リスク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簿外債務・偶発債務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財務DDの徹底、表明保証、エスクロー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融資審査不通過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複数金融機関への事前相談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0915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買収価格高騰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6635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上限価格の事前設定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280160"/>
            <a:ext cx="356616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316736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法務・事業リスク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9202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9659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許認可承継問題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377440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42316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法務DD・行政機関への事前相談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主要顧客離反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749039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79476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キーマン条項・早期説明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6634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70915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技術者退職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120640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516635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リテンションボーナス・処遇保証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1280160"/>
            <a:ext cx="356616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316736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PMI・統合リスク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19202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19659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企業文化の衝突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377440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42316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段階的統合・コミュニケーション計画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2918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33756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シナジー未達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749039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379476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PMI計画の精緻化・KPI管理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663440"/>
            <a:ext cx="3383280" cy="4114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4709159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00000"/>
                </a:solidFill>
              </a:defRPr>
            </a:pPr>
            <a:r>
              <a:t>リスク: システム統合遅延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5120640"/>
            <a:ext cx="3383280" cy="5029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5166359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対策: 並行運用・段階的移行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486400"/>
            <a:ext cx="11277295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00000"/>
                </a:solidFill>
              </a:defRPr>
            </a:pPr>
            <a:r>
              <a:t>【撤退基準（Go/No-Go）】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① DDで重大な簿外債務が発覚  ② 買収価格が上限を超過  ③ 主要許認可の承継が不可  ④ 融資条件が著しく不利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