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事業計画書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AIアシスタント導入支援サービス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931920"/>
            <a:ext cx="4876495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2026年1月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ARCFEELGROUP株式会社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エグゼクティブサマリー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</a:defRPr>
            </a:pPr>
            <a:r>
              <a:t>事業概要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Claude APIを活用したAIアシスタント導入支援サービスを中小企業向けに提供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</a:defRPr>
            </a:pPr>
            <a:r>
              <a:t>ターゲット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業務効率化に関心の高い中小企業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</a:defRPr>
            </a:pPr>
            <a:r>
              <a:t>提供価値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カスタムAIソリューションにより業務効率を大幅改善（導入期間：約2ヶ月）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</a:defRPr>
            </a:pPr>
            <a:r>
              <a:t>スケジュール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2026年2月〜5月（4ヶ月間）で開発・リリース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</a:defRPr>
            </a:pPr>
            <a:r>
              <a:t>プロモーション予算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300万円（リリースに合わせたキャンペーン実施）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サービス概要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AIアシスタント導入支援サービスとは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● Claude APIを活用したカスタムAIソリューションの開発・導入を支援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● 中小企業の業務プロセスに合わせたAIアシスタントを構築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● 導入期間は約2ヶ月。要件定義からリリースまでワンストップで対応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● 導入後のサポート・改善提案も継続的に実施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</a:defRPr>
            </a:pPr>
            <a:r>
              <a:t>サービス提供フロー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852160"/>
            <a:ext cx="1828800" cy="5486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ヒアリング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5852160"/>
            <a:ext cx="182880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要件定義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5852160"/>
            <a:ext cx="1828800" cy="5486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開発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59" y="5852160"/>
            <a:ext cx="182880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テスト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5852160"/>
            <a:ext cx="1828800" cy="5486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導入・運用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ターゲット市場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メインターゲット：中小企業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560320"/>
            <a:ext cx="10332720" cy="8229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600" b="1">
                <a:solidFill>
                  <a:srgbClr val="2E86C1"/>
                </a:solidFill>
              </a:rPr>
              <a:t>市場背景：</a:t>
            </a:r>
            <a:r>
              <a:rPr sz="1600">
                <a:solidFill>
                  <a:srgbClr val="333333"/>
                </a:solidFill>
              </a:rPr>
              <a:t>中小企業の業務効率化への関心が非常に高まっている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10332720" cy="8229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600" b="1">
                <a:solidFill>
                  <a:srgbClr val="2E86C1"/>
                </a:solidFill>
              </a:rPr>
              <a:t>課題：</a:t>
            </a:r>
            <a:r>
              <a:rPr sz="1600">
                <a:solidFill>
                  <a:srgbClr val="333333"/>
                </a:solidFill>
              </a:rPr>
              <a:t>人手不足・業務の属人化・コスト増加に対する解決策を求めている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10332720" cy="8229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600" b="1">
                <a:solidFill>
                  <a:srgbClr val="2E86C1"/>
                </a:solidFill>
              </a:rPr>
              <a:t>ニーズ：</a:t>
            </a:r>
            <a:r>
              <a:rPr sz="1600">
                <a:solidFill>
                  <a:srgbClr val="333333"/>
                </a:solidFill>
              </a:rPr>
              <a:t>AIを活用した業務自動化・効率化ソリューション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577840"/>
            <a:ext cx="10332720" cy="8229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600" b="1">
                <a:solidFill>
                  <a:srgbClr val="2E86C1"/>
                </a:solidFill>
              </a:rPr>
              <a:t>競合優位性：</a:t>
            </a:r>
            <a:r>
              <a:rPr sz="1600">
                <a:solidFill>
                  <a:srgbClr val="333333"/>
                </a:solidFill>
              </a:rPr>
              <a:t>Claude APIの高い日本語能力を活かしたカスタムソリューション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スケジュール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開発スケジュール（2026年2月〜5月）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1371600" cy="548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2560320"/>
            <a:ext cx="2743200" cy="548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フェーズ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2560320"/>
            <a:ext cx="6400800" cy="548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主な作業内容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1371600" cy="64008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2月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3200400"/>
            <a:ext cx="2743200" cy="64008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要件定義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3200400"/>
            <a:ext cx="6400800" cy="64008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顧客ヒアリング、要件整理、技術仕様書作成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931920"/>
            <a:ext cx="1371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3月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3931920"/>
            <a:ext cx="2743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プロトタイプ開発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3931920"/>
            <a:ext cx="6400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Claude API連携、基本機能開発、UI設計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663440"/>
            <a:ext cx="1371600" cy="64008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4月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4663440"/>
            <a:ext cx="2743200" cy="64008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ベータテスト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4663440"/>
            <a:ext cx="6400800" cy="64008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テスト環境での検証、フィードバック収集、改善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394960"/>
            <a:ext cx="1371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5月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5394960"/>
            <a:ext cx="2743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正式リリース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5394960"/>
            <a:ext cx="6400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サービスリリース、プロモーションキャンペーン開始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予算計画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初期予算計画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2743200" cy="548640"/>
          </a:xfrm>
          <a:prstGeom prst="rect">
            <a:avLst/>
          </a:prstGeom>
          <a:solidFill>
            <a:srgbClr val="1B3A5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項目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2560320"/>
            <a:ext cx="5029200" cy="548640"/>
          </a:xfrm>
          <a:prstGeom prst="rect">
            <a:avLst/>
          </a:prstGeom>
          <a:solidFill>
            <a:srgbClr val="1B3A5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0" y="2560320"/>
            <a:ext cx="2560320" cy="548640"/>
          </a:xfrm>
          <a:prstGeom prst="rect">
            <a:avLst/>
          </a:prstGeom>
          <a:solidFill>
            <a:srgbClr val="1B3A5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予算（万円）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開発費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3200400"/>
            <a:ext cx="5029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0">
                <a:solidFill>
                  <a:srgbClr val="333333"/>
                </a:solidFill>
              </a:defRPr>
            </a:pPr>
            <a:r>
              <a:t>プロトタイプ開発・テスト環境構築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3200400"/>
            <a:ext cx="2560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r">
              <a:defRPr sz="1400" b="0">
                <a:solidFill>
                  <a:srgbClr val="333333"/>
                </a:solidFill>
              </a:defRPr>
            </a:pPr>
            <a:r>
              <a:t>（要見積り）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840479"/>
            <a:ext cx="2743200" cy="54864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API利用料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3840479"/>
            <a:ext cx="5029200" cy="54864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0">
                <a:solidFill>
                  <a:srgbClr val="333333"/>
                </a:solidFill>
              </a:defRPr>
            </a:pPr>
            <a:r>
              <a:t>Claude API利用コスト（開発期間中）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3840479"/>
            <a:ext cx="2560320" cy="54864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r">
              <a:defRPr sz="1400" b="0">
                <a:solidFill>
                  <a:srgbClr val="333333"/>
                </a:solidFill>
              </a:defRPr>
            </a:pPr>
            <a:r>
              <a:t>（要見積り）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480559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人件費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4480559"/>
            <a:ext cx="5029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0">
                <a:solidFill>
                  <a:srgbClr val="333333"/>
                </a:solidFill>
              </a:defRPr>
            </a:pPr>
            <a:r>
              <a:t>開発チーム・マーケティング人件費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4480559"/>
            <a:ext cx="2560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r">
              <a:defRPr sz="1400" b="0">
                <a:solidFill>
                  <a:srgbClr val="333333"/>
                </a:solidFill>
              </a:defRPr>
            </a:pPr>
            <a:r>
              <a:t>（要見積り）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120640"/>
            <a:ext cx="2743200" cy="54864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プロモーション費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5120640"/>
            <a:ext cx="5029200" cy="54864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0">
                <a:solidFill>
                  <a:srgbClr val="333333"/>
                </a:solidFill>
              </a:defRPr>
            </a:pPr>
            <a:r>
              <a:t>キャンペーン・広告・営業活動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5120640"/>
            <a:ext cx="2560320" cy="548640"/>
          </a:xfrm>
          <a:prstGeom prst="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r">
              <a:defRPr sz="1400" b="0">
                <a:solidFill>
                  <a:srgbClr val="333333"/>
                </a:solidFill>
              </a:defRPr>
            </a:pPr>
            <a:r>
              <a:t>300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76072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その他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5760720"/>
            <a:ext cx="5029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0">
                <a:solidFill>
                  <a:srgbClr val="333333"/>
                </a:solidFill>
              </a:defRPr>
            </a:pPr>
            <a:r>
              <a:t>予備費・雑費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5760720"/>
            <a:ext cx="2560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r">
              <a:defRPr sz="1400" b="0">
                <a:solidFill>
                  <a:srgbClr val="333333"/>
                </a:solidFill>
              </a:defRPr>
            </a:pPr>
            <a:r>
              <a:t>（要見積り）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※ プロモーション予算300万円は会議で承認済み。その他の項目は次回会議で見積りを提示予定。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